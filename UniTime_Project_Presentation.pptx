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University Course Timetabling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Semester VI B.Tech. Project Report</a:t>
            </a:r>
          </a:p>
          <a:p>
            <a:r>
              <a:t>COEP Technological University, Pune</a:t>
            </a:r>
          </a:p>
          <a:p>
            <a:r>
              <a:t>Department of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NP-Hard Combinatorial Optimization: Assigning courses, instructors, and rooms to time slots.</a:t>
            </a:r>
          </a:p>
          <a:p>
            <a:pPr/>
            <a:r>
              <a:t>Constraints: A complex set of Hard (mandatory) and Soft (preferential) constraints.</a:t>
            </a:r>
          </a:p>
          <a:p>
            <a:pPr/>
            <a:r>
              <a:t>COEP Challenges: Diverse academic structures, elective pathways, and batch-based laboratory sessions.</a:t>
            </a:r>
          </a:p>
          <a:p>
            <a:pPr/>
            <a:r>
              <a:t>Goal: Replace manual scheduling with a unified, constraint-driven framework.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UniTime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Open-source, web-based academic scheduling system (Apache License 2.0).</a:t>
            </a:r>
          </a:p>
          <a:p>
            <a:pPr/>
            <a:r>
              <a:t>Comprehensive Components: Course Timetabling, Exam Timetabling, Student Scheduling, and Event Management.</a:t>
            </a:r>
          </a:p>
          <a:p>
            <a:pPr/>
            <a:r>
              <a:t>Proven Reliability: Used at large institutions like Purdue University.</a:t>
            </a:r>
          </a:p>
          <a:p>
            <a:pPr/>
            <a:r>
              <a:t>Flexible Modeling: Handles hierarchical subparts (Lectures, Labs, Tutorials) and 'Time Patterns'.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Setup &amp;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Language: Java 21 (Runtime Environment)</a:t>
            </a:r>
          </a:p>
          <a:p>
            <a:pPr/>
            <a:r>
              <a:t>Database: MySQL 8.4 (Relational storage)</a:t>
            </a:r>
          </a:p>
          <a:p>
            <a:pPr/>
            <a:r>
              <a:t>Server: Apache Tomcat 9.0 (Servlet container)</a:t>
            </a:r>
          </a:p>
          <a:p>
            <a:pPr/>
            <a:r>
              <a:t>Data Integration: XML-based import/export for bulk data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Institutional Data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Academic Area: Engineering</a:t>
            </a:r>
          </a:p>
          <a:p>
            <a:pPr/>
            <a:r>
              <a:t>Classification: Semesters 1–8; M.Tech Semesters 1–2</a:t>
            </a:r>
          </a:p>
          <a:p>
            <a:pPr/>
            <a:r>
              <a:t>Majors: CSE, AI, etc.</a:t>
            </a:r>
          </a:p>
          <a:p>
            <a:pPr/>
            <a:r>
              <a:t>Concentrations/Minors: DSY (Electives) and MDMs (Minor Degrees)</a:t>
            </a:r>
          </a:p>
          <a:p>
            <a:pPr/>
            <a:r>
              <a:t>Student Data: Sourced from MIS Portal via custom XML transformation scripts.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Scheduling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Hard Constraints: No room/instructor/student conflicts.</a:t>
            </a:r>
          </a:p>
          <a:p>
            <a:pPr/>
            <a:r>
              <a:t>Distance: Minimum travel time between rooms.</a:t>
            </a:r>
          </a:p>
          <a:p>
            <a:pPr/>
            <a:r>
              <a:t>Load Management: Back-to-back lecture limits for instructors.</a:t>
            </a:r>
          </a:p>
          <a:p>
            <a:pPr/>
            <a:r>
              <a:t>Distribution: Consecutive lectures for the same course; minimization of student 'holes'.</a:t>
            </a:r>
          </a:p>
          <a:p>
            <a:pPr/>
            <a:r>
              <a:t>Common Hours: Reserving university-wide lunch/meeting slots.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Solver: Iterative Forward Search (IFS)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Local Search Method: Operates on feasible but potentially incomplete solutions.</a:t>
            </a:r>
          </a:p>
          <a:p>
            <a:pPr/>
            <a:r>
              <a:t>Iterative Process: Selects a class -&gt; Assigns placement -&gt; Removes hard conflicts.</a:t>
            </a:r>
          </a:p>
          <a:p>
            <a:pPr/>
            <a:r>
              <a:t>Feature: Intermediate solutions are always valid/interpretable.</a:t>
            </a:r>
          </a:p>
          <a:p>
            <a:pPr/>
            <a:r>
              <a:t>Termination: Continues until a complete schedule is found or timeout is reached.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Mechanism: CBS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Conflict Tracking: Records the frequency of hard conflicts between assignments.</a:t>
            </a:r>
          </a:p>
          <a:p>
            <a:pPr/>
            <a:r>
              <a:t>Search Guidance: Penalizes historically problematic placements during value selection.</a:t>
            </a:r>
          </a:p>
          <a:p>
            <a:pPr/>
            <a:r>
              <a:t>Diagnosis: Identifies 'bottleneck' constraints causing infeasibility.</a:t>
            </a:r>
          </a:p>
          <a:p>
            <a:pPr/>
            <a:r>
              <a:t>Guarantees: Strict enforcement of all defined hard constraints.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Examination Scheduling: Support for invigilator (TA) assignments.</a:t>
            </a:r>
          </a:p>
          <a:p>
            <a:pPr/>
            <a:r>
              <a:t>Calendar Integration: Export to .ics format for Outlook/Google Calendar synchronization.</a:t>
            </a:r>
          </a:p>
          <a:p>
            <a:pPr/>
            <a:r>
              <a:t>Automated Notifications: Real-time email alerts for timetable changes.</a:t>
            </a:r>
          </a:p>
          <a:p>
            <a:pPr/>
            <a:r>
              <a:t>Communication: Automated creation of course-specific WhatsApp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UniTime successfully captures all identified COEP institutional constraints.</a:t>
            </a:r>
          </a:p>
          <a:p>
            <a:pPr/>
            <a:r>
              <a:t>Constraint Programming (IFS + CBS) provides robust optimization.</a:t>
            </a:r>
          </a:p>
          <a:p>
            <a:pPr/>
            <a:r>
              <a:t>Foundation is ready for full-scale, university-wide deployment.</a:t>
            </a:r>
          </a:p>
          <a:p>
            <a:pPr/>
            <a:r>
              <a:t>System is extensible for future institutional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